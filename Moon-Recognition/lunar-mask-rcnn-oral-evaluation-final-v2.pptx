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0"/>
  </p:normalViewPr>
  <p:slideViewPr>
    <p:cSldViewPr snapToGrid="0" snapToObjects="1">
      <p:cViewPr varScale="1">
        <p:scale>
          <a:sx n="113" d="100"/>
          <a:sy n="113" d="100"/>
        </p:scale>
        <p:origin x="5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0978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(~50s). "My part is lunar feature recognition — a Mask R-CNN that finds AND outlines each surface feature: craters, pit/skylights, wrinkle ridges, lobate scarps, on 256x256 Marius Hills tiles." Point to the chips: 4 classes, 50.8M params, best checkpoint at epoch 8. TRANSITION: "The most important decisions happen in the data — let me start there."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 (~70s). "7 semantic channels ship with the data, but not all are usable. I scanned all 15,935 tiles and kept only classes present in &gt;=200 tiles — 4 kept, 3 dropped. After requiring &gt;=1 instance I had 4,198 usable tiles, split 3,345/853 with a SPATIAL split so neighbouring tiles can't leak." HONEST FLAG: "pit_skylight has only 246 tiles — that's why it scores low later. I'd rather say it up front." TRANSITION: "Here's how a mask becomes training targets."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PIPELINE (~45s). "Mask R-CNN can't train on a 7-channel semantic mask. Per tile: load, normalize to 3x256, split channels, then connected-component labelling so each blob is one object with a box, label and mask. I filter tiny and oversized noise." KEY IDEA: "that conversion is what lets ONE model do detection and segmentation together." TRANSITION: "Now the architecture."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 — my contribution (~70s). "COCO-pretrained ResNet-50 + FPN gives multi-scale features. RPN proposes, ROI-Align crops. Then MY heads: a deeper 4-layer box head and a residual mask head — stem + 4 residual blocks. I retuned anchors to lunar scales, 8 to 128 px, and kept native 256 resolution." Numbers: 50.8M params, 84 weighted layers, 3 anchors/level. If asked why custom heads: more capacity for fine, low-contrast lunar texture. TRANSITION: "How did it train?"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TRAINING — principled, not luck (~55s). "20 epochs, but I deliberately don't use the last one. Training loss kept falling while validation loss bottomed early then rose — overfitting. I select by validation mAP, which peaks at epoch 8 (0.014). That's best_model.pth, and every later number comes from it." Point at the curve. TRANSITION: "So what does it score?"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HONEST RESULTS — calm, do NOT apologise (~75s). "Detection is weak: mAP ~0.01, precision 0.10, recall 0.056. But when it DOES match an object the mask is strong — IoU 0.64, Dice 0.77. The decoupling IS the finding: it learns what features look like, it just isn't finding enough. 461 found vs 7,790 missed." Per class: craters/ridges carry the AP; skylight/scarp ~0 because rare.</a:t>
            </a:r>
          </a:p>
          <a:p>
            <a:r>
              <a:t>Q&amp;A DEFENSE (if pressed): Why mAP ~1%? -&gt; data-starved, recall is the bottleneck, not a broken model. Good masks but weak detection? -&gt; mask metrics only score MATCHED objects; the RPN under-proposes on small low-contrast terrain. Overfit/lucky epoch? -&gt; epoch 8 chosen by val mAP before val loss climbs = principled early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QUALITATIVE (~45s). "Three panels per tile: original, ground truth, prediction. On clear high-contrast craters and ridges the boxes and masks line up. On faint or small features it under-detects — exactly what recall predicted. The point: it fails predictably, not randomly." TRANSITION: "Where does it fall short, and what's next?"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STRONG (~70s). Four limitations, each with a fix: 1) low recall -&gt; balanced sampling + anchor tuning + early stopping. 2) false positives from shadow/texture -&gt; hard negatives + threshold tuning. 3) rare classes starved -&gt; oversampling or focal loss. 4) long thin features -&gt; hybrid with U-Net-style segmentation. LAND IT: "The pipeline is sound and the masks are good — the gap is data balance and tuning, not the architecture. I know exactly where to push next. Thank you — happy to take questions."</a:t>
            </a:r>
          </a:p>
          <a:p>
            <a:r>
              <a:t>Q&amp;A DEFENSE: What would actually fix it? -&gt; imbalance first (balanced sampling + focal loss), then anchor/threshold tuning on GPU; scarp AP 0 and skylight ~0 are data starvation, not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unar_tit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167" y="0"/>
            <a:ext cx="4251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939735" y="0"/>
            <a:ext cx="45720" cy="6858000"/>
          </a:xfrm>
          <a:prstGeom prst="rect">
            <a:avLst/>
          </a:prstGeom>
          <a:solidFill>
            <a:srgbClr val="34E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4E5A4"/>
                </a:solidFill>
                <a:latin typeface="Aptos"/>
              </a:rPr>
              <a:t>LCP MODULE B  ·  PHYSICS OF DATA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00784"/>
            <a:ext cx="70408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2F5FA"/>
                </a:solidFill>
                <a:latin typeface="Aptos Display"/>
              </a:rPr>
              <a:t>Lunar Feature</a:t>
            </a:r>
          </a:p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2F5FA"/>
                </a:solidFill>
                <a:latin typeface="Aptos Display"/>
              </a:rPr>
              <a:t>Recognition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310128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>
                <a:solidFill>
                  <a:srgbClr val="98A6BE"/>
                </a:solidFill>
                <a:latin typeface="Aptos"/>
              </a:rPr>
              <a:t>Instance segmentation of the Moon with Mask R-CNN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069080"/>
            <a:ext cx="2084831" cy="91440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206240"/>
            <a:ext cx="1719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4E5A4"/>
                </a:solidFill>
                <a:latin typeface="Aptos Display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81728"/>
            <a:ext cx="17190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8A6BE"/>
                </a:solidFill>
                <a:latin typeface="Aptos"/>
              </a:rPr>
              <a:t>feature classes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3512" y="4069080"/>
            <a:ext cx="2084831" cy="91440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36392" y="4206240"/>
            <a:ext cx="1719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4E5A4"/>
                </a:solidFill>
                <a:latin typeface="Aptos Display"/>
              </a:rPr>
              <a:t>50.8M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4681728"/>
            <a:ext cx="17190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8A6BE"/>
                </a:solidFill>
                <a:latin typeface="Aptos"/>
              </a:rPr>
              <a:t>parameters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1224" y="4069080"/>
            <a:ext cx="2084831" cy="91440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04104" y="4206240"/>
            <a:ext cx="17190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4E5A4"/>
                </a:solidFill>
                <a:latin typeface="Aptos Display"/>
              </a:rPr>
              <a:t>epoch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4" y="4681728"/>
            <a:ext cx="17190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8A6BE"/>
                </a:solidFill>
                <a:latin typeface="Aptos"/>
              </a:rPr>
              <a:t>best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0644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2F5FA"/>
                </a:solidFill>
                <a:latin typeface="Aptos"/>
              </a:rPr>
              <a:t>Amirmohammad Saiedi Saber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163056"/>
            <a:ext cx="6766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8A6BE"/>
                </a:solidFill>
                <a:latin typeface="Aptos"/>
              </a:rPr>
              <a:t>Computational Physics 2026  ·  Laboratory of Computational Physics, module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30352"/>
            <a:ext cx="68580" cy="475488"/>
          </a:xfrm>
          <a:prstGeom prst="roundRect">
            <a:avLst>
              <a:gd name="adj" fmla="val 50000"/>
            </a:avLst>
          </a:prstGeom>
          <a:solidFill>
            <a:srgbClr val="34E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2F5FA"/>
                </a:solidFill>
                <a:latin typeface="Aptos Display"/>
              </a:rPr>
              <a:t>From 7 noisy channels to 4 trainable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98A6BE"/>
                </a:solidFill>
                <a:latin typeface="Aptos"/>
              </a:rPr>
              <a:t>I scanned every tile, then kept only the classes with enough evidence to train.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8A6BE"/>
                </a:solidFill>
                <a:latin typeface="Aptos"/>
              </a:rPr>
              <a:t>Lunar Feature Recognition   ·   2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2505456" cy="123444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837944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F2F5FA"/>
                </a:solidFill>
                <a:latin typeface="Aptos Display"/>
              </a:rPr>
              <a:t>15,935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68296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2F5FA"/>
                </a:solidFill>
                <a:latin typeface="Aptos"/>
              </a:rPr>
              <a:t>tiles scanned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42616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8A6BE"/>
                </a:solidFill>
                <a:latin typeface="Aptos"/>
              </a:rPr>
              <a:t>every NPZ tile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0944" y="22860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34E5A4"/>
                </a:solidFill>
                <a:latin typeface="Aptos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691640"/>
            <a:ext cx="2505456" cy="123444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75304" y="1837944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34E5A4"/>
                </a:solidFill>
                <a:latin typeface="Aptos Display"/>
              </a:rPr>
              <a:t>4 kept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2368296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2F5FA"/>
                </a:solidFill>
                <a:latin typeface="Aptos"/>
              </a:rPr>
              <a:t>classes ≥ 200 tiles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2642616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8A6BE"/>
                </a:solidFill>
                <a:latin typeface="Aptos"/>
              </a:rPr>
              <a:t>3 dropped as rare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79" y="22860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34E5A4"/>
                </a:solidFill>
                <a:latin typeface="Apto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691640"/>
            <a:ext cx="2505456" cy="123444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837944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F2F5FA"/>
                </a:solidFill>
                <a:latin typeface="Aptos Display"/>
              </a:rPr>
              <a:t>4,198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2F5FA"/>
                </a:solidFill>
                <a:latin typeface="Aptos"/>
              </a:rPr>
              <a:t>usable tiles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42616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8A6BE"/>
                </a:solidFill>
                <a:latin typeface="Aptos"/>
              </a:rPr>
              <a:t>≥ 1 instance 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4816" y="22860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34E5A4"/>
                </a:solidFill>
                <a:latin typeface="Aptos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08008" y="1691640"/>
            <a:ext cx="2505456" cy="123444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09176" y="1837944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34E5A4"/>
                </a:solidFill>
                <a:latin typeface="Aptos Display"/>
              </a:rPr>
              <a:t>3,345 / 853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2368296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2F5FA"/>
                </a:solidFill>
                <a:latin typeface="Aptos"/>
              </a:rPr>
              <a:t>train / 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9176" y="2642616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8A6BE"/>
                </a:solidFill>
                <a:latin typeface="Aptos"/>
              </a:rPr>
              <a:t>spatial split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310128"/>
            <a:ext cx="5486400" cy="224028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3474720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4E5A4"/>
                </a:solidFill>
                <a:latin typeface="Aptos Display"/>
              </a:rPr>
              <a:t>Kept  —  4 classes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8862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2F5FA"/>
                </a:solidFill>
                <a:latin typeface="Aptos"/>
              </a:rPr>
              <a:t>impact_crater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8862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98A6BE"/>
                </a:solidFill>
                <a:latin typeface="Aptos"/>
              </a:rPr>
              <a:t>15,935  tiles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2976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2F5FA"/>
                </a:solidFill>
                <a:latin typeface="Aptos"/>
              </a:rPr>
              <a:t>wrinkle_ridge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2976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98A6BE"/>
                </a:solidFill>
                <a:latin typeface="Aptos"/>
              </a:rPr>
              <a:t>2,993  tiles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7091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2F5FA"/>
                </a:solidFill>
                <a:latin typeface="Aptos"/>
              </a:rPr>
              <a:t>lobate_scarp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7091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98A6BE"/>
                </a:solidFill>
                <a:latin typeface="Aptos"/>
              </a:rPr>
              <a:t>272  tiles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12064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2F5FA"/>
                </a:solidFill>
                <a:latin typeface="Aptos"/>
              </a:rPr>
              <a:t>pit_skylight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51206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98A6BE"/>
                </a:solidFill>
                <a:latin typeface="Aptos"/>
              </a:rPr>
              <a:t>246  tiles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5352" y="3310128"/>
            <a:ext cx="5486400" cy="224028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01384" y="3474720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98A6BE"/>
                </a:solidFill>
                <a:latin typeface="Aptos Display"/>
              </a:rPr>
              <a:t>Dropped  —  too rare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1384" y="38862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A6BE"/>
                </a:solidFill>
                <a:latin typeface="Aptos"/>
              </a:rPr>
              <a:t>irregular_mare_patch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38862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98A6BE"/>
                </a:solidFill>
                <a:latin typeface="Aptos"/>
              </a:rPr>
              <a:t>103  tiles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01384" y="42976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A6BE"/>
                </a:solidFill>
                <a:latin typeface="Aptos"/>
              </a:rPr>
              <a:t>apollo_site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2976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98A6BE"/>
                </a:solidFill>
                <a:latin typeface="Aptos"/>
              </a:rPr>
              <a:t>175  tiles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1384" y="47091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8A6BE"/>
                </a:solidFill>
                <a:latin typeface="Aptos"/>
              </a:rPr>
              <a:t>candidate_rille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47091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98A6BE"/>
                </a:solidFill>
                <a:latin typeface="Aptos"/>
              </a:rPr>
              <a:t>20  tiles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01384" y="5212080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34E5A4"/>
                </a:solidFill>
                <a:latin typeface="Aptos"/>
              </a:rPr>
              <a:t>pit_skylight is the key science target — and the scarcest.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30352"/>
            <a:ext cx="68580" cy="475488"/>
          </a:xfrm>
          <a:prstGeom prst="roundRect">
            <a:avLst>
              <a:gd name="adj" fmla="val 50000"/>
            </a:avLst>
          </a:prstGeom>
          <a:solidFill>
            <a:srgbClr val="34E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2F5FA"/>
                </a:solidFill>
                <a:latin typeface="Aptos Display"/>
              </a:rPr>
              <a:t>Semantic masks become object instances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98A6BE"/>
                </a:solidFill>
                <a:latin typeface="Aptos"/>
              </a:rPr>
              <a:t>Mask R-CNN needs one target per object, so each mask channel is split into instances.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8A6BE"/>
                </a:solidFill>
                <a:latin typeface="Aptos"/>
              </a:rPr>
              <a:t>Lunar Feature Recognition   ·   3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" y="2011680"/>
            <a:ext cx="1965960" cy="137160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2011680"/>
            <a:ext cx="1746504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F5FA"/>
                </a:solidFill>
                <a:latin typeface="Aptos"/>
              </a:rPr>
              <a:t>Load tile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950" b="0" i="0">
                <a:solidFill>
                  <a:srgbClr val="98A6BE"/>
                </a:solidFill>
                <a:latin typeface="Aptos"/>
              </a:rPr>
              <a:t>image + 7-ch mask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5456" y="26060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34E5A4"/>
                </a:solidFill>
                <a:latin typeface="Aptos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25496" y="2011680"/>
            <a:ext cx="1965960" cy="137160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35224" y="2011680"/>
            <a:ext cx="1746504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F5FA"/>
                </a:solidFill>
                <a:latin typeface="Aptos"/>
              </a:rPr>
              <a:t>Normalize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950" b="0" i="0">
                <a:solidFill>
                  <a:srgbClr val="98A6BE"/>
                </a:solidFill>
                <a:latin typeface="Aptos"/>
              </a:rPr>
              <a:t>3 × 256 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1456" y="26060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34E5A4"/>
                </a:solidFill>
                <a:latin typeface="Aptos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11496" y="2011680"/>
            <a:ext cx="1965960" cy="137160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21224" y="2011680"/>
            <a:ext cx="1746504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F5FA"/>
                </a:solidFill>
                <a:latin typeface="Aptos"/>
              </a:rPr>
              <a:t>Split channels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950" b="0" i="0">
                <a:solidFill>
                  <a:srgbClr val="98A6BE"/>
                </a:solidFill>
                <a:latin typeface="Aptos"/>
              </a:rPr>
              <a:t>one layer / 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7456" y="26060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34E5A4"/>
                </a:solidFill>
                <a:latin typeface="Aptos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97496" y="2011680"/>
            <a:ext cx="1965960" cy="137160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07223" y="2011680"/>
            <a:ext cx="1746504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F5FA"/>
                </a:solidFill>
                <a:latin typeface="Aptos"/>
              </a:rPr>
              <a:t>Components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950" b="0" i="0">
                <a:solidFill>
                  <a:srgbClr val="98A6BE"/>
                </a:solidFill>
                <a:latin typeface="Aptos"/>
              </a:rPr>
              <a:t>blob → instance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26060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34E5A4"/>
                </a:solidFill>
                <a:latin typeface="Aptos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83496" y="2011680"/>
            <a:ext cx="1965960" cy="137160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93224" y="2011680"/>
            <a:ext cx="1746504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34E5A4"/>
                </a:solidFill>
                <a:latin typeface="Aptos"/>
              </a:rPr>
              <a:t>Targets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950" b="0" i="0">
                <a:solidFill>
                  <a:srgbClr val="98A6BE"/>
                </a:solidFill>
                <a:latin typeface="Aptos"/>
              </a:rPr>
              <a:t>boxes·labels·masks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" y="4160520"/>
            <a:ext cx="11109960" cy="1417320"/>
          </a:xfrm>
          <a:prstGeom prst="roundRect">
            <a:avLst>
              <a:gd name="adj" fmla="val 5500"/>
            </a:avLst>
          </a:prstGeom>
          <a:solidFill>
            <a:srgbClr val="1B2640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7240" y="4370832"/>
            <a:ext cx="68580" cy="1005840"/>
          </a:xfrm>
          <a:prstGeom prst="roundRect">
            <a:avLst>
              <a:gd name="adj" fmla="val 50000"/>
            </a:avLst>
          </a:prstGeom>
          <a:solidFill>
            <a:srgbClr val="34E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389120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4E5A4"/>
                </a:solidFill>
                <a:latin typeface="Aptos Display"/>
              </a:rPr>
              <a:t>Key idea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F2F5FA"/>
                </a:solidFill>
                <a:latin typeface="Aptos"/>
              </a:rPr>
              <a:t>Connected-component labelling turns each bright blob into one object with a box, a label and a pixel mask. That single conversion is what lets one network learn detection and segmentation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30352"/>
            <a:ext cx="68580" cy="475488"/>
          </a:xfrm>
          <a:prstGeom prst="roundRect">
            <a:avLst>
              <a:gd name="adj" fmla="val 50000"/>
            </a:avLst>
          </a:prstGeom>
          <a:solidFill>
            <a:srgbClr val="34E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2F5FA"/>
                </a:solidFill>
                <a:latin typeface="Aptos Display"/>
              </a:rPr>
              <a:t>Mask R-CNN: pretrained backbone, custom heads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98A6BE"/>
                </a:solidFill>
                <a:latin typeface="Aptos"/>
              </a:rPr>
              <a:t>COCO-pretrained ResNet-50 + FPN, with deeper heads tuned for small lunar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8A6BE"/>
                </a:solidFill>
                <a:latin typeface="Aptos"/>
              </a:rPr>
              <a:t>Lunar Feature Recognition   ·   4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" y="1783080"/>
            <a:ext cx="2286000" cy="96012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783080"/>
            <a:ext cx="2066543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F5FA"/>
                </a:solidFill>
                <a:latin typeface="Aptos"/>
              </a:rPr>
              <a:t>Input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950" b="0" i="0">
                <a:solidFill>
                  <a:srgbClr val="98A6BE"/>
                </a:solidFill>
                <a:latin typeface="Aptos"/>
              </a:rPr>
              <a:t>3 × 256 × 256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5264" y="21305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34E5A4"/>
                </a:solidFill>
                <a:latin typeface="Aptos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21024" y="1783080"/>
            <a:ext cx="2286000" cy="96012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30752" y="1783080"/>
            <a:ext cx="2066543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F5FA"/>
                </a:solidFill>
                <a:latin typeface="Aptos"/>
              </a:rPr>
              <a:t>ResNet-50 + FPN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950" b="0" i="0">
                <a:solidFill>
                  <a:srgbClr val="98A6BE"/>
                </a:solidFill>
                <a:latin typeface="Aptos"/>
              </a:rPr>
              <a:t>multi-scale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7024" y="21305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34E5A4"/>
                </a:solidFill>
                <a:latin typeface="Aptos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783080"/>
            <a:ext cx="2286000" cy="96012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783080"/>
            <a:ext cx="2066543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F5FA"/>
                </a:solidFill>
                <a:latin typeface="Aptos"/>
              </a:rPr>
              <a:t>RPN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950" b="0" i="0">
                <a:solidFill>
                  <a:srgbClr val="98A6BE"/>
                </a:solidFill>
                <a:latin typeface="Aptos"/>
              </a:rPr>
              <a:t>region proposals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21305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34E5A4"/>
                </a:solidFill>
                <a:latin typeface="Aptos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24544" y="1783080"/>
            <a:ext cx="2286000" cy="96012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34272" y="1783080"/>
            <a:ext cx="2066543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2F5FA"/>
                </a:solidFill>
                <a:latin typeface="Aptos"/>
              </a:rPr>
              <a:t>ROI-Align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950" b="0" i="0">
                <a:solidFill>
                  <a:srgbClr val="98A6BE"/>
                </a:solidFill>
                <a:latin typeface="Aptos"/>
              </a:rPr>
              <a:t>crop per proposal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" y="3063240"/>
            <a:ext cx="10241280" cy="1463040"/>
          </a:xfrm>
          <a:prstGeom prst="roundRect">
            <a:avLst>
              <a:gd name="adj" fmla="val 5500"/>
            </a:avLst>
          </a:prstGeom>
          <a:solidFill>
            <a:srgbClr val="1B2640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" y="32004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4E5A4"/>
                </a:solidFill>
                <a:latin typeface="Aptos Display"/>
              </a:rPr>
              <a:t>Custom heads  (my contribution)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3584448"/>
            <a:ext cx="4663440" cy="77724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54480" y="3675887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2F5FA"/>
                </a:solidFill>
                <a:latin typeface="Aptos"/>
              </a:rPr>
              <a:t>Box head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98A6BE"/>
                </a:solidFill>
                <a:latin typeface="Aptos"/>
              </a:rPr>
              <a:t>4-layer MLP  →  class + box refinement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84448"/>
            <a:ext cx="4663440" cy="77724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675887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2F5FA"/>
                </a:solidFill>
                <a:latin typeface="Aptos"/>
              </a:rPr>
              <a:t>Mask head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98A6BE"/>
                </a:solidFill>
                <a:latin typeface="Aptos"/>
              </a:rPr>
              <a:t>stem + 4 residual blocks  →  pixel mask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" y="4892040"/>
            <a:ext cx="2596896" cy="91440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52144" y="50292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34E5A4"/>
                </a:solidFill>
                <a:latin typeface="Aptos Display"/>
              </a:rPr>
              <a:t>50.8M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" y="55046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8A6BE"/>
                </a:solidFill>
                <a:latin typeface="Aptos"/>
              </a:rPr>
              <a:t>parameters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76472" y="4892040"/>
            <a:ext cx="2596896" cy="91440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59352" y="50292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34E5A4"/>
                </a:solidFill>
                <a:latin typeface="Aptos Display"/>
              </a:rPr>
              <a:t>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9352" y="55046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8A6BE"/>
                </a:solidFill>
                <a:latin typeface="Aptos"/>
              </a:rPr>
              <a:t>weighted layers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79" y="4892040"/>
            <a:ext cx="2596896" cy="91440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59" y="50292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34E5A4"/>
                </a:solidFill>
                <a:latin typeface="Aptos Display"/>
              </a:rPr>
              <a:t>8–128 px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59" y="55046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8A6BE"/>
                </a:solidFill>
                <a:latin typeface="Aptos"/>
              </a:rPr>
              <a:t>lunar anchors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90888" y="4892040"/>
            <a:ext cx="2596896" cy="91440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73767" y="50292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34E5A4"/>
                </a:solidFill>
                <a:latin typeface="Aptos Display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3767" y="55046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8A6BE"/>
                </a:solidFill>
                <a:latin typeface="Aptos"/>
              </a:rPr>
              <a:t>labels (incl. bg)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30352"/>
            <a:ext cx="68580" cy="475488"/>
          </a:xfrm>
          <a:prstGeom prst="roundRect">
            <a:avLst>
              <a:gd name="adj" fmla="val 50000"/>
            </a:avLst>
          </a:prstGeom>
          <a:solidFill>
            <a:srgbClr val="34E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2F5FA"/>
                </a:solidFill>
                <a:latin typeface="Aptos Display"/>
              </a:rPr>
              <a:t>Principled checkpoint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98A6BE"/>
                </a:solidFill>
                <a:latin typeface="Aptos"/>
              </a:rPr>
              <a:t>Trained 20 epochs; kept epoch 8 — the validation-mAP peak, before overfitting set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8A6BE"/>
                </a:solidFill>
                <a:latin typeface="Aptos"/>
              </a:rPr>
              <a:t>Lunar Feature Recognition   ·   5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91672" cy="3063240"/>
          </a:xfrm>
          <a:prstGeom prst="roundRect">
            <a:avLst>
              <a:gd name="adj" fmla="val 5500"/>
            </a:avLst>
          </a:prstGeom>
          <a:solidFill>
            <a:srgbClr val="1B2640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1783080"/>
            <a:ext cx="10332720" cy="270593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074920"/>
            <a:ext cx="3520440" cy="96012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521208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4E5A4"/>
                </a:solidFill>
                <a:latin typeface="Aptos Display"/>
              </a:rPr>
              <a:t>epoch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650992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8A6BE"/>
                </a:solidFill>
                <a:latin typeface="Aptos"/>
              </a:rPr>
              <a:t>selected checkpoint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5074920"/>
            <a:ext cx="3520440" cy="96012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2856" y="521208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5B544"/>
                </a:solidFill>
                <a:latin typeface="Aptos Display"/>
              </a:rPr>
              <a:t>0.0140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5650992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8A6BE"/>
                </a:solidFill>
                <a:latin typeface="Aptos"/>
              </a:rPr>
              <a:t>selection mAP @0.5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5074920"/>
            <a:ext cx="3520440" cy="96012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2" y="521208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6B6B"/>
                </a:solidFill>
                <a:latin typeface="Aptos Display"/>
              </a:rPr>
              <a:t>after ~epoch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5650992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8A6BE"/>
                </a:solidFill>
                <a:latin typeface="Aptos"/>
              </a:rPr>
              <a:t>val loss starts rising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30352"/>
            <a:ext cx="68580" cy="475488"/>
          </a:xfrm>
          <a:prstGeom prst="roundRect">
            <a:avLst>
              <a:gd name="adj" fmla="val 50000"/>
            </a:avLst>
          </a:prstGeom>
          <a:solidFill>
            <a:srgbClr val="34E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2F5FA"/>
                </a:solidFill>
                <a:latin typeface="Aptos Display"/>
              </a:rPr>
              <a:t>Final evaluation: what the numbers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98A6BE"/>
                </a:solidFill>
                <a:latin typeface="Aptos"/>
              </a:rPr>
              <a:t>Best checkpoint, evaluated on the held-out validation 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8A6BE"/>
                </a:solidFill>
                <a:latin typeface="Aptos"/>
              </a:rPr>
              <a:t>Lunar Feature Recognition   ·   6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" y="1691640"/>
            <a:ext cx="1783080" cy="123444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7" y="1847088"/>
            <a:ext cx="14538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F5B544"/>
                </a:solidFill>
                <a:latin typeface="Aptos Display"/>
              </a:rPr>
              <a:t>0.010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2432304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2F5FA"/>
                </a:solidFill>
                <a:latin typeface="Aptos"/>
              </a:rPr>
              <a:t>mAP@0.5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0008" y="1691640"/>
            <a:ext cx="1783080" cy="123444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4600" y="1847088"/>
            <a:ext cx="14538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5B9DF9"/>
                </a:solidFill>
                <a:latin typeface="Aptos Display"/>
              </a:rPr>
              <a:t>0.104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2432304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2F5FA"/>
                </a:solidFill>
                <a:latin typeface="Aptos"/>
              </a:rPr>
              <a:t>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91640"/>
            <a:ext cx="1783080" cy="123444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16552" y="1847088"/>
            <a:ext cx="14538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FF6B6B"/>
                </a:solidFill>
                <a:latin typeface="Aptos Display"/>
              </a:rPr>
              <a:t>0.056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432304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2F5FA"/>
                </a:solidFill>
                <a:latin typeface="Aptos"/>
              </a:rPr>
              <a:t>recall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1691640"/>
            <a:ext cx="1783080" cy="123444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8504" y="1847088"/>
            <a:ext cx="14538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B58CF7"/>
                </a:solidFill>
                <a:latin typeface="Aptos Display"/>
              </a:rPr>
              <a:t>0.073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2432304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2F5FA"/>
                </a:solidFill>
                <a:latin typeface="Aptos"/>
              </a:rPr>
              <a:t>F1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1691640"/>
            <a:ext cx="1783080" cy="123444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0456" y="1847088"/>
            <a:ext cx="14538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34E5A4"/>
                </a:solidFill>
                <a:latin typeface="Aptos Display"/>
              </a:rPr>
              <a:t>0.636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2432304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2F5FA"/>
                </a:solidFill>
                <a:latin typeface="Aptos"/>
              </a:rPr>
              <a:t>mask IoU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57816" y="1691640"/>
            <a:ext cx="1783080" cy="123444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22408" y="1847088"/>
            <a:ext cx="14538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i="0">
                <a:solidFill>
                  <a:srgbClr val="34E5A4"/>
                </a:solidFill>
                <a:latin typeface="Aptos Display"/>
              </a:rPr>
              <a:t>0.773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9256" y="2432304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2F5FA"/>
                </a:solidFill>
                <a:latin typeface="Aptos"/>
              </a:rPr>
              <a:t>mask Dice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" y="3246120"/>
            <a:ext cx="11292840" cy="1417320"/>
          </a:xfrm>
          <a:prstGeom prst="roundRect">
            <a:avLst>
              <a:gd name="adj" fmla="val 5500"/>
            </a:avLst>
          </a:prstGeom>
          <a:solidFill>
            <a:srgbClr val="1B2640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13232" y="3456432"/>
            <a:ext cx="68580" cy="1005840"/>
          </a:xfrm>
          <a:prstGeom prst="roundRect">
            <a:avLst>
              <a:gd name="adj" fmla="val 50000"/>
            </a:avLst>
          </a:prstGeom>
          <a:solidFill>
            <a:srgbClr val="34E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" y="3456432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4E5A4"/>
                </a:solidFill>
                <a:latin typeface="Aptos Display"/>
              </a:rPr>
              <a:t>The key finding</a:t>
            </a:r>
          </a:p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F2F5FA"/>
                </a:solidFill>
                <a:latin typeface="Aptos"/>
              </a:rPr>
              <a:t>The model draws features well — mask IoU 0.64 — but doesn’t find enough of them: recall 0.056, with 461 found vs 7,790 missed. Detection, not segmentation, is the bottleneck.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" y="4892040"/>
            <a:ext cx="6766560" cy="118872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50292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98A6BE"/>
                </a:solidFill>
                <a:latin typeface="Aptos"/>
              </a:rPr>
              <a:t>AP per 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3949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2F5FA"/>
                </a:solidFill>
                <a:latin typeface="Aptos"/>
              </a:rPr>
              <a:t>crater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65099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4E5A4"/>
                </a:solidFill>
                <a:latin typeface="Aptos Display"/>
              </a:rPr>
              <a:t>0.023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13432" y="53949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2F5FA"/>
                </a:solidFill>
                <a:latin typeface="Aptos"/>
              </a:rPr>
              <a:t>wrinkle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13432" y="565099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4E5A4"/>
                </a:solidFill>
                <a:latin typeface="Aptos Display"/>
              </a:rPr>
              <a:t>0.017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13632" y="53949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2F5FA"/>
                </a:solidFill>
                <a:latin typeface="Aptos"/>
              </a:rPr>
              <a:t>skylight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13632" y="565099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  <a:latin typeface="Aptos Display"/>
              </a:rPr>
              <a:t>0.000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3832" y="53949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2F5FA"/>
                </a:solidFill>
                <a:latin typeface="Aptos"/>
              </a:rPr>
              <a:t>scarp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13832" y="565099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  <a:latin typeface="Aptos Display"/>
              </a:rPr>
              <a:t>0.000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06640" y="4892040"/>
            <a:ext cx="4334256" cy="118872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62672" y="50292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98A6BE"/>
                </a:solidFill>
                <a:latin typeface="Aptos"/>
              </a:rPr>
              <a:t>Detection counts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62672" y="53949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2F5FA"/>
                </a:solidFill>
                <a:latin typeface="Aptos"/>
              </a:rPr>
              <a:t>TP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62672" y="565099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4E5A4"/>
                </a:solidFill>
                <a:latin typeface="Aptos Display"/>
              </a:rPr>
              <a:t>461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88552" y="53949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2F5FA"/>
                </a:solidFill>
                <a:latin typeface="Aptos"/>
              </a:rPr>
              <a:t>FP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88552" y="565099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5B544"/>
                </a:solidFill>
                <a:latin typeface="Aptos Display"/>
              </a:rPr>
              <a:t>3,973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14432" y="53949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2F5FA"/>
                </a:solidFill>
                <a:latin typeface="Aptos"/>
              </a:rPr>
              <a:t>FN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14432" y="565099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  <a:latin typeface="Aptos Display"/>
              </a:rPr>
              <a:t>7,790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30352"/>
            <a:ext cx="68580" cy="475488"/>
          </a:xfrm>
          <a:prstGeom prst="roundRect">
            <a:avLst>
              <a:gd name="adj" fmla="val 50000"/>
            </a:avLst>
          </a:prstGeom>
          <a:solidFill>
            <a:srgbClr val="34E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2F5FA"/>
                </a:solidFill>
                <a:latin typeface="Aptos Display"/>
              </a:rPr>
              <a:t>Predictions on validation tiles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98A6BE"/>
                </a:solidFill>
                <a:latin typeface="Aptos"/>
              </a:rPr>
              <a:t>Each triplet: original  ·  ground truth  ·  prediction.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8A6BE"/>
                </a:solidFill>
                <a:latin typeface="Aptos"/>
              </a:rPr>
              <a:t>Lunar Feature Recognition   ·   7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195648" cy="4800600"/>
          </a:xfrm>
          <a:prstGeom prst="roundRect">
            <a:avLst>
              <a:gd name="adj" fmla="val 5500"/>
            </a:avLst>
          </a:prstGeom>
          <a:solidFill>
            <a:srgbClr val="1B2640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redictions_2co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6012769" cy="4617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64328" y="1645920"/>
            <a:ext cx="4274231" cy="480060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38648" y="1874519"/>
            <a:ext cx="3817031" cy="1832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 dirty="0">
                <a:solidFill>
                  <a:srgbClr val="34E5A4"/>
                </a:solidFill>
                <a:latin typeface="Aptos Display"/>
              </a:rPr>
              <a:t>How to read it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 i="0" dirty="0">
                <a:solidFill>
                  <a:srgbClr val="F2F5FA"/>
                </a:solidFill>
                <a:latin typeface="Aptos"/>
              </a:rPr>
              <a:t>Clear, high-contrast craters and ridges are localized and outlined well.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0" i="0" dirty="0">
                <a:solidFill>
                  <a:srgbClr val="F2F5FA"/>
                </a:solidFill>
                <a:latin typeface="Aptos"/>
              </a:rPr>
              <a:t>Faint or small features are missed — exactly what the low recall predicts.</a:t>
            </a:r>
          </a:p>
          <a:p>
            <a:pPr algn="l">
              <a:lnSpc>
                <a:spcPct val="112000"/>
              </a:lnSpc>
            </a:pPr>
            <a:endParaRPr lang="en-US" sz="1300" dirty="0">
              <a:solidFill>
                <a:srgbClr val="F2F5FA"/>
              </a:solidFill>
              <a:latin typeface="Aptos"/>
            </a:endParaRPr>
          </a:p>
          <a:p>
            <a:pPr algn="l">
              <a:lnSpc>
                <a:spcPct val="112000"/>
              </a:lnSpc>
            </a:pPr>
            <a:endParaRPr sz="1300" b="0" i="0" dirty="0">
              <a:solidFill>
                <a:srgbClr val="F2F5F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530352"/>
            <a:ext cx="68580" cy="475488"/>
          </a:xfrm>
          <a:prstGeom prst="roundRect">
            <a:avLst>
              <a:gd name="adj" fmla="val 50000"/>
            </a:avLst>
          </a:prstGeom>
          <a:solidFill>
            <a:srgbClr val="34E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2F5FA"/>
                </a:solidFill>
                <a:latin typeface="Aptos Display"/>
              </a:rPr>
              <a:t>Honest limitations — and the fix for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98A6BE"/>
                </a:solidFill>
                <a:latin typeface="Aptos"/>
              </a:rPr>
              <a:t>The results aren’t perfect, but every gap has a concrete next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8A6BE"/>
                </a:solidFill>
                <a:latin typeface="Aptos"/>
              </a:rPr>
              <a:t>Lunar Feature Recognition   ·   8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40680" cy="178308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2011679"/>
            <a:ext cx="457200" cy="45720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34E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01167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34E5A4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29967"/>
            <a:ext cx="4251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F2F5FA"/>
                </a:solidFill>
                <a:latin typeface="Aptos Display"/>
              </a:rPr>
              <a:t>Low recall — most objects missed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78608"/>
            <a:ext cx="4251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8A6BE"/>
                </a:solidFill>
                <a:latin typeface="Aptos"/>
              </a:rPr>
              <a:t>Class-balanced sampling, anchor tuning, and validation-based early stopping.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737360"/>
            <a:ext cx="5440680" cy="178308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73952" y="2011679"/>
            <a:ext cx="457200" cy="45720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34E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201167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34E5A4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029967"/>
            <a:ext cx="4251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F2F5FA"/>
                </a:solidFill>
                <a:latin typeface="Aptos Display"/>
              </a:rPr>
              <a:t>False positives from shadow &amp; texture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2578608"/>
            <a:ext cx="4251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8A6BE"/>
                </a:solidFill>
                <a:latin typeface="Aptos"/>
              </a:rPr>
              <a:t>Hard-negative mining and confidence-threshold tuning for cleaner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5440680" cy="178308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34E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3931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34E5A4"/>
                </a:solidFill>
                <a:latin typeface="Aptos Display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950208"/>
            <a:ext cx="4251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F2F5FA"/>
                </a:solidFill>
                <a:latin typeface="Aptos Display"/>
              </a:rPr>
              <a:t>Rare classes are starved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498848"/>
            <a:ext cx="4251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8A6BE"/>
                </a:solidFill>
                <a:latin typeface="Aptos"/>
              </a:rPr>
              <a:t>Oversample skylight &amp; scarp, or use a focal / class-weighted loss.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657600"/>
            <a:ext cx="5440680" cy="1783080"/>
          </a:xfrm>
          <a:prstGeom prst="roundRect">
            <a:avLst>
              <a:gd name="adj" fmla="val 5500"/>
            </a:avLst>
          </a:prstGeom>
          <a:solidFill>
            <a:srgbClr val="161D2E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73952" y="3931920"/>
            <a:ext cx="457200" cy="45720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34E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3931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34E5A4"/>
                </a:solidFill>
                <a:latin typeface="Aptos Display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3950208"/>
            <a:ext cx="4251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F2F5FA"/>
                </a:solidFill>
                <a:latin typeface="Aptos Display"/>
              </a:rPr>
              <a:t>Long thin features aren’t compact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2" y="4498848"/>
            <a:ext cx="4251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8A6BE"/>
                </a:solidFill>
                <a:latin typeface="Aptos"/>
              </a:rPr>
              <a:t>Hybrid: Mask R-CNN for blobs + U-Net-style segmentation for ridges.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5500"/>
            </a:avLst>
          </a:prstGeom>
          <a:solidFill>
            <a:srgbClr val="1B2640"/>
          </a:solidFill>
          <a:ln w="9525">
            <a:solidFill>
              <a:srgbClr val="2B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77240" y="5733288"/>
            <a:ext cx="68580" cy="438912"/>
          </a:xfrm>
          <a:prstGeom prst="roundRect">
            <a:avLst>
              <a:gd name="adj" fmla="val 50000"/>
            </a:avLst>
          </a:prstGeom>
          <a:solidFill>
            <a:srgbClr val="34E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1560" y="5623560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F2F5FA"/>
                </a:solidFill>
                <a:latin typeface="Aptos"/>
              </a:rPr>
              <a:t>Bottom line:  the pipeline is sound and the masks are good — the gap is data balance and tuning, not the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1468</Words>
  <Application>Microsoft Macintosh PowerPoint</Application>
  <PresentationFormat>Widescreen</PresentationFormat>
  <Paragraphs>167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Amirmohammad Saiedi Saber</cp:lastModifiedBy>
  <cp:revision>2</cp:revision>
  <dcterms:created xsi:type="dcterms:W3CDTF">2013-01-27T09:14:16Z</dcterms:created>
  <dcterms:modified xsi:type="dcterms:W3CDTF">2026-06-05T00:22:22Z</dcterms:modified>
  <cp:category/>
</cp:coreProperties>
</file>